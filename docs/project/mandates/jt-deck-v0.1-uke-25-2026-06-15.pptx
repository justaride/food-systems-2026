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e717336f0f4db9" /><Relationship Type="http://schemas.openxmlformats.org/officeDocument/2006/relationships/extended-properties" Target="/docProps/app.xml" Id="Red9289b227ff419e" /><Relationship Type="http://schemas.openxmlformats.org/officeDocument/2006/relationships/officeDocument" Target="/ppt/presentation.xml" Id="Rf422dd1ad39e48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09ec428ff94a52"/>
  </p:sldMasterIdLst>
  <p:notesMasterIdLst>
    <p:notesMasterId xmlns:r="http://schemas.openxmlformats.org/officeDocument/2006/relationships" r:id="R6f78c11b98e548d5"/>
  </p:notesMasterIdLst>
  <p:sldIdLst>
    <p:sldId xmlns:r="http://schemas.openxmlformats.org/officeDocument/2006/relationships" id="256" r:id="R062c40acfc0b4a42"/>
    <p:sldId xmlns:r="http://schemas.openxmlformats.org/officeDocument/2006/relationships" id="257" r:id="Rd34df030cd684e73"/>
    <p:sldId xmlns:r="http://schemas.openxmlformats.org/officeDocument/2006/relationships" id="258" r:id="R7a70b7ea638c4231"/>
    <p:sldId xmlns:r="http://schemas.openxmlformats.org/officeDocument/2006/relationships" id="259" r:id="R9e794b37144d4314"/>
    <p:sldId xmlns:r="http://schemas.openxmlformats.org/officeDocument/2006/relationships" id="260" r:id="R65632289bcdc4039"/>
    <p:sldId xmlns:r="http://schemas.openxmlformats.org/officeDocument/2006/relationships" id="261" r:id="R00aa8256e27e49b0"/>
    <p:sldId xmlns:r="http://schemas.openxmlformats.org/officeDocument/2006/relationships" id="262" r:id="R7e8b4c4ad5194621"/>
    <p:sldId xmlns:r="http://schemas.openxmlformats.org/officeDocument/2006/relationships" id="263" r:id="R7f5cfb28fb9748c3"/>
    <p:sldId xmlns:r="http://schemas.openxmlformats.org/officeDocument/2006/relationships" id="264" r:id="R90c511cbd5c84ec3"/>
    <p:sldId xmlns:r="http://schemas.openxmlformats.org/officeDocument/2006/relationships" id="265" r:id="R4f113bc5ca9545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204253e0c44bd" /><Relationship Type="http://schemas.openxmlformats.org/officeDocument/2006/relationships/slideMaster" Target="/ppt/slideMasters/slideMaster1.xml" Id="R9a09ec428ff94a52" /><Relationship Type="http://schemas.openxmlformats.org/officeDocument/2006/relationships/notesMaster" Target="/ppt/notesMasters/notesMaster1.xml" Id="R6f78c11b98e548d5" /><Relationship Type="http://schemas.openxmlformats.org/officeDocument/2006/relationships/presProps" Target="/ppt/presProps.xml" Id="R3c0a3bf0ef2844d4" /><Relationship Type="http://schemas.openxmlformats.org/officeDocument/2006/relationships/viewProps" Target="/ppt/viewProps.xml" Id="R033c8b4ec4c344a3" /><Relationship Type="http://schemas.openxmlformats.org/officeDocument/2006/relationships/tableStyles" Target="/ppt/tableStyles.xml" Id="R994eddedf3974c4e" /><Relationship Type="http://schemas.openxmlformats.org/officeDocument/2006/relationships/slide" Target="/ppt/slides/slide1.xml" Id="R062c40acfc0b4a42" /><Relationship Type="http://schemas.openxmlformats.org/officeDocument/2006/relationships/slide" Target="/ppt/slides/slide2.xml" Id="Rd34df030cd684e73" /><Relationship Type="http://schemas.openxmlformats.org/officeDocument/2006/relationships/slide" Target="/ppt/slides/slide3.xml" Id="R7a70b7ea638c4231" /><Relationship Type="http://schemas.openxmlformats.org/officeDocument/2006/relationships/slide" Target="/ppt/slides/slide4.xml" Id="R9e794b37144d4314" /><Relationship Type="http://schemas.openxmlformats.org/officeDocument/2006/relationships/slide" Target="/ppt/slides/slide5.xml" Id="R65632289bcdc4039" /><Relationship Type="http://schemas.openxmlformats.org/officeDocument/2006/relationships/slide" Target="/ppt/slides/slide6.xml" Id="R00aa8256e27e49b0" /><Relationship Type="http://schemas.openxmlformats.org/officeDocument/2006/relationships/slide" Target="/ppt/slides/slide7.xml" Id="R7e8b4c4ad5194621" /><Relationship Type="http://schemas.openxmlformats.org/officeDocument/2006/relationships/slide" Target="/ppt/slides/slide8.xml" Id="R7f5cfb28fb9748c3" /><Relationship Type="http://schemas.openxmlformats.org/officeDocument/2006/relationships/slide" Target="/ppt/slides/slide9.xml" Id="R90c511cbd5c84ec3" /><Relationship Type="http://schemas.openxmlformats.org/officeDocument/2006/relationships/slide" Target="/ppt/slides/slide10.xml" Id="R4f113bc5ca95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c4e7c4d707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93ff7cf4694a0b" /><Relationship Type="http://schemas.openxmlformats.org/officeDocument/2006/relationships/notesMaster" Target="/ppt/notesMasters/notesMaster1.xml" Id="R009533202dd34a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6cd2364d945ea" /><Relationship Type="http://schemas.openxmlformats.org/officeDocument/2006/relationships/notesMaster" Target="/ppt/notesMasters/notesMaster1.xml" Id="R30595625418a43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5dc496bc84243" /><Relationship Type="http://schemas.openxmlformats.org/officeDocument/2006/relationships/notesMaster" Target="/ppt/notesMasters/notesMaster1.xml" Id="Rdfcc1990f7294f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76572142e441d1" /><Relationship Type="http://schemas.openxmlformats.org/officeDocument/2006/relationships/notesMaster" Target="/ppt/notesMasters/notesMaster1.xml" Id="R7746864ba9a64c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a9903910d4731" /><Relationship Type="http://schemas.openxmlformats.org/officeDocument/2006/relationships/notesMaster" Target="/ppt/notesMasters/notesMaster1.xml" Id="R35a0350a8b7b4e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c62f2e1ce44f6" /><Relationship Type="http://schemas.openxmlformats.org/officeDocument/2006/relationships/notesMaster" Target="/ppt/notesMasters/notesMaster1.xml" Id="R8ee883632a4d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49a8c5a0924c4a" /><Relationship Type="http://schemas.openxmlformats.org/officeDocument/2006/relationships/notesMaster" Target="/ppt/notesMasters/notesMaster1.xml" Id="R380f5d734ff6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260988e2dc4aab" /><Relationship Type="http://schemas.openxmlformats.org/officeDocument/2006/relationships/notesMaster" Target="/ppt/notesMasters/notesMaster1.xml" Id="R71847ca6e4d64a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23d0e76c054193" /><Relationship Type="http://schemas.openxmlformats.org/officeDocument/2006/relationships/notesMaster" Target="/ppt/notesMasters/notesMaster1.xml" Id="Rd42a1a36b6e14f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e28b801f9143e0" /><Relationship Type="http://schemas.openxmlformats.org/officeDocument/2006/relationships/notesMaster" Target="/ppt/notesMasters/notesMaster1.xml" Id="R81c66f3fd235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Poenget er ikke å redusere ambisjonen, men å få en beslutningsbar leveranse. 09.06-samtalen peker på at risikoen nå er at alt blir like viktig.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og B viser hva som kan gi sirkularitet; C forklarer hvorfor løsninger skalerer eller stopper.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 har nok til å velge et smalt caseunivers, men ikke til å behandle alle case som like modne.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Bruk handels- og fôrdata som kontrollspor, ikke som ferdig bransjefasit. Brasil/kaffe kan kobles til import/EUDR hvis dokumentgrunnlaget holder, men MOU-/relasjonsclaim er lukket inntil DASK svarer.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Denne sliden skal tvinge frem presisjon: utnyttet er ikke det samme som høyverdiutnyttet.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Ikke mål effekten bare i reddede måltider. Vi trenger kvalitet, avsetning og økonomi.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Bruk distribusjon/adoption-gate for norsk frukt og grønt som trygg arbeidstittel. Ikke bruk BAMA-spesifikke blokkering- eller marginclaims.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Hvis dokumentene ikke finnes, parkeres relasjonsclaimet. Da kan sporet eventuelt leve videre som import-/EUDR-kildecase.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Ikke si importfritt fôr om Valio. Ikke si nasjonalt TWh-potensial om spillvarme. Begge kan brukes til å vise hvordan vi behandler datagap ærlig.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Møtet skal ende med beslutninger, ikke bare orientering. Hvis vi får vedtakene, kan deck, DASK, eventramme og roadmap v0.1 bevege seg samme uke.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77e20c83c44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d895ead304685" /><Relationship Type="http://schemas.openxmlformats.org/officeDocument/2006/relationships/slideLayout" Target="/ppt/slideLayouts/slideLayout1.xml" Id="R7d10bd98c304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0bd98c304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ea771a9f74ebd" /><Relationship Type="http://schemas.openxmlformats.org/officeDocument/2006/relationships/notesSlide" Target="/ppt/notesSlides/notesSlide1.xml" Id="R29c5db358fd4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163038beb429d" /><Relationship Type="http://schemas.openxmlformats.org/officeDocument/2006/relationships/notesSlide" Target="/ppt/notesSlides/notesSlide2.xml" Id="Rc0011c5c8194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c5801a80348f7" /><Relationship Type="http://schemas.openxmlformats.org/officeDocument/2006/relationships/notesSlide" Target="/ppt/notesSlides/notesSlide3.xml" Id="Rd665e6102b19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f3d5f674a4ac0" /><Relationship Type="http://schemas.openxmlformats.org/officeDocument/2006/relationships/notesSlide" Target="/ppt/notesSlides/notesSlide4.xml" Id="R88a7f89646aa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106caeb7b4eb0" /><Relationship Type="http://schemas.openxmlformats.org/officeDocument/2006/relationships/notesSlide" Target="/ppt/notesSlides/notesSlide5.xml" Id="R37729e1b6e4d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66aded1ce4251" /><Relationship Type="http://schemas.openxmlformats.org/officeDocument/2006/relationships/notesSlide" Target="/ppt/notesSlides/notesSlide6.xml" Id="R71f7709a124e46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2ba17e2094f4d" /><Relationship Type="http://schemas.openxmlformats.org/officeDocument/2006/relationships/notesSlide" Target="/ppt/notesSlides/notesSlide7.xml" Id="R1eea4c9959934a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03daf180840fb" /><Relationship Type="http://schemas.openxmlformats.org/officeDocument/2006/relationships/notesSlide" Target="/ppt/notesSlides/notesSlide8.xml" Id="R20b17134c7f04d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aeb586e224a33" /><Relationship Type="http://schemas.openxmlformats.org/officeDocument/2006/relationships/notesSlide" Target="/ppt/notesSlides/notesSlide9.xml" Id="R1d77a8bbb23247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58b6b382444f" /><Relationship Type="http://schemas.openxmlformats.org/officeDocument/2006/relationships/notesSlide" Target="/ppt/notesSlides/notesSlide10.xml" Id="Ra8571ea23ef74a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8CE14-A06D-4282-A780-051D5C0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CE368-1781-430A-8511-A889164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D56D-D743-4965-A255-EA86043F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F26E6-A6A6-4C57-B180-FD52F6F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Hvorfor Food må snevres inn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018119C1-18D8-4632-894A-48711D3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834"/>
          </a:solidFill>
          <a:ln xmlns:a="http://schemas.openxmlformats.org/drawingml/2006/main" w="0">
            <a:solidFill>
              <a:srgbClr val="B858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15ACB-0D9C-4072-8FFA-20CA34D3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 STYRINGSSYNTESE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98ECD-7DAC-4F59-9AA9-2DA1374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032BD-D785-4678-8F49-AC2A4A4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B8D26-148A-4639-B5DE-216FB1AD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783EF-5190-4047-AAC1-6D4965F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5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834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C2AE2-0BD9-466D-B4A3-049717C2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590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Food TG må gå fra hele matsystemet til få verdikjedeanker for å rekke en trygg H1-leveranse innen 31.07.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E968B-3D28-4BC9-96BC-4B6591A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000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0D025-7B63-4465-9B30-FEE35EE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BREDT MATERIALE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E099B-CEBD-4B73-A1CB-ABC16A99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1B658-DA4A-48E8-8991-55097D9C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mange kilder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71711-5348-4F1E-86FC-639225E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8F821-4269-4118-A0A1-6CE8BA74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mange mulige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090BA-A9E2-4C9D-97A8-4A1C1F5D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E6502-82C6-47B9-A6EA-5511C14B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mange uavklarte claims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B5045-CA75-49B1-943C-3DC7862A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8150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211E0-EDB2-49BA-B26E-0BF036F3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86250"/>
            <a:ext cx="2667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00258-929E-448D-AB9D-3220607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5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DD235-759A-4299-AE9E-DF9460B6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3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A35"/>
                </a:solidFill>
                <a:latin typeface="Aptos"/>
                <a:ea typeface="Aptos"/>
                <a:cs typeface="Aptos"/>
              </a:rPr>
              <a:t>H1-ROADMAP V0.1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6E5E5-0C9D-47C3-AF09-A90F2A06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AC1D3-EDA3-4698-8AEB-4AC99D8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 caseanker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BD391-53E4-4010-B9AE-96C70B4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0EC1E-0ACA-4281-A708-3F37454A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claim-lock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79B68-0794-4341-AD7A-C703670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62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B39F7-782A-4FFA-92D7-49CB2676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DASK/AASK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DA27E-585E-4C64-8773-5A57AF76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86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F1ACB0-E52F-4E67-A89B-AEA61D45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006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beslutningsmøte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949BA8-5698-4218-A21E-1BF850D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9A3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99A35"/>
                </a:solidFill>
                <a:latin typeface="Aptos Display"/>
                <a:ea typeface="Aptos Display"/>
                <a:cs typeface="Aptos Display"/>
              </a:rPr>
              <a:t>31.07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97848-8419-43BC-A130-28D61185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5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kontraktsfrist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28083-BEE4-4ED7-A93E-D9BF3E5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jt-deck-v0.1-uke-25-2026-06-15.md; food-tg-0906-sprintboard-go-no-go-2026-06-10.md</a:t>
            </a:r>
          </a:p>
        </p:txBody>
      </p:sp>
    </p:spTree>
    <p:extLst>
      <p:ext uri="{BB962C8B-B14F-4D97-AF65-F5344CB8AC3E}">
        <p14:creationId xmlns:p14="http://schemas.microsoft.com/office/powerpoint/2010/main" val="8754769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F1688-C6B1-4383-B137-06508034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15C8F-0EDE-4A52-AB3B-D162B35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73146-F065-4310-875A-4E46D920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1C48F-2E82-4214-B3C8-303A3811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A+B/C er fortsatt arbeidsrammen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7B10F9DC-A579-400A-80B8-1475B199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86BA3-6181-4C02-A838-745BD3CC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D528C-9FAB-45B3-B7C8-1BE6CC8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8F304-D646-42FC-8FB8-5EA7B4E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63D15-D503-4505-90AE-AF22850C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CB4A7-4193-4DAB-A623-63FD025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Nye case erstatter ikke mai-scope; de sorteres inn i A fôr/import, B sidestrøm/matsvinn og C adoption/marked.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34B7B-C735-4FC1-89EB-A4ECF2AA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105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5240">
            <a:solidFill>
              <a:srgbClr val="2F6F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4947B-9263-4232-83E3-1C3296C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37114-47E4-4427-A5F8-6376063C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FÔR / IMPORT / PROTEIN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C5F00-DA62-4151-92DA-0A23EE2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8AA18-3D93-468C-B99E-97E8241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beredskap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C55AF-1656-4EB4-A20C-89A86711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76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114E4-4502-456E-BFB4-D2348E44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fôrråvarer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04B7E-772B-458E-815E-E86AC8D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F8047-197C-4F0E-A2B5-AE8363D5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importavhengighet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C0489-BC57-4FF0-8BDA-2FDD57DD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3105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5240">
            <a:solidFill>
              <a:srgbClr val="C99A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3F59B-94A0-468D-B5A8-B3DE9162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99A3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C99A35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AF597-F9A3-497C-94E1-8C1EB77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3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A35"/>
                </a:solidFill>
                <a:latin typeface="Aptos"/>
                <a:ea typeface="Aptos"/>
                <a:cs typeface="Aptos"/>
              </a:rPr>
              <a:t>SIDESTRØM / MATSVINN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0F626-FE13-4035-8CEA-8DFEF0C7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4EDEE-7B31-4E06-9B22-406B2FA4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862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restråstoff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06B24-E9AA-4B87-B067-898054AC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76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3274B-298D-4E6A-AC81-1A94BE63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910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matsvinnkvalitet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80EEF-AAAB-4D7D-92CD-C16CF3FE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81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FB889-11CB-4C34-AD2D-1B708B14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958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høyverdi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ED533-164E-4029-B156-C9F489B3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05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5240">
            <a:solidFill>
              <a:srgbClr val="315B7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3F4C8-9208-4368-B5D0-6F2E6092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211E6-EFEE-4B2D-BCC5-60DA38E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B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5B7C"/>
                </a:solidFill>
                <a:latin typeface="Aptos"/>
                <a:ea typeface="Aptos"/>
                <a:cs typeface="Aptos"/>
              </a:rPr>
              <a:t>ADOPTION / MARKED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1C145F-9507-4F4F-804E-76559A3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C60A2-AAB3-4C6C-AC51-0209622B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862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distribusjon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67950-D362-4587-80EC-AE5CD3B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76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CF5F55-2157-4752-8449-BDD50183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910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innkjøp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29AEDE-8D63-4A25-8237-7617B516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81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F0429-B08F-485F-83C2-905EF3E4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958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aktørport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BDF5B1-915E-4BF4-B4FB-9E69D060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363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3A02F8-9089-4E55-AD32-B83386D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Bruksregel: sortering først, claim-løft etter primærkilde, aktørvalidering og claim-lock.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0ED266-4A3A-4D19-9257-DC70B6CD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claim-lock og casekort; JT deck-manus v0.1</a:t>
            </a:r>
          </a:p>
        </p:txBody>
      </p:sp>
    </p:spTree>
    <p:extLst>
      <p:ext uri="{BB962C8B-B14F-4D97-AF65-F5344CB8AC3E}">
        <p14:creationId xmlns:p14="http://schemas.microsoft.com/office/powerpoint/2010/main" val="16469150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30F88-095E-4214-8C59-04E3F3B8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56BDA-5492-4EAD-83E1-94600FE0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80F5F-5268-4303-8473-9AC7411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3D7C7-54E8-4BE1-B5F9-31D7C45D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Syv caseanker for første leveranse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6B051FED-A70F-4F67-8897-82840ECB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315B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8CD0-5A36-44EC-BA34-89C946A7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SPRINTBOARD 10.06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F7A5E-5306-4C60-870A-1E651744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E5C55-3700-4790-9C94-776C3C3E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83214-994A-4A38-9C97-6893916F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321AB-B439-4E22-BFBB-B77F992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Modenhetsmatrise: bruk nå betyr intern beslutningsbruk, ikke ekstern faktastemme.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FC626-FFAF-4FB2-AB6F-150549E9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05727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8EC04-2AA5-41B0-A833-FB8DE19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44FD4-5B91-49BD-B34B-C14D2661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29403-B7F6-4689-A442-B66075D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Bruk nå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7F1E8-11B8-42DB-8212-D577631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CD822-A6CE-47EB-A3C4-13E8CFA0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Brasil/kaffe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FF4A9-0291-436F-A4D9-078ED45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908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8E3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B51D4-3E91-42B2-982F-7C6273F3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385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needs-primary-check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CF53E-6450-48D9-B20E-8B967E3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Import/EUDR-hypotese; relasjonscase avventer MOU.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D8D83-B278-4DB9-B789-CD46F356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76645-DEC4-4B8F-B7E0-C6D2577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Elfenbenskysten/kakao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56F3D-629A-4439-AEF4-72B4261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528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8E3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CA72A-7947-4B0D-856A-6D201D3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00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needs-primary-check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0FD81-7C0C-4A0D-B811-486FBA85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Sporbarhetshypotese; relasjon avventer dokument.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FFED2-9228-4E71-BD70-6982C5F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8A926-2E80-463E-9CB9-29DA913D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Valio/Finland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8667C-49B2-4574-93CF-AAB7F6F5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2F6F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08497-AEB7-4390-9F3B-EFF5D89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624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deckklart internt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54B5E-E363-42D9-9722-E47CD11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243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Soyafri governance, ikke importfritt fôr.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F25BE-7B41-4535-98FF-806E97C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5CDC6-E923-44DD-840A-EB12E151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Distribusjon/adoption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BE4D52-B83C-4C9C-A2BF-50BC0984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2F6F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E062D2-1A2B-4BC8-AB61-B7B49A6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243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deckklart internt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67F061-6F32-4B6D-9BB9-56471283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C-gate, ikke BAMA-anklage.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A2024-CC53-47DD-AC52-A292E75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100AC8-2738-4A1F-908E-AF3773C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Spillvarme/Hima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8A9273-30CF-4F9F-B725-2C82DD5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386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99A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7D7E3B-D8AA-46CC-A986-5191F3C3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686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99A3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9A35"/>
                </a:solidFill>
                <a:latin typeface="Aptos"/>
                <a:ea typeface="Aptos"/>
                <a:cs typeface="Aptos"/>
              </a:rPr>
              <a:t>delvis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DB0F4-91E4-4D32-A880-03AB9695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48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Internt case med datagap; radar for andre case.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84C160-9292-4163-960E-7F4176CD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F2F42-6BC7-42A1-9969-96C771A2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100% Fish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17E265-501A-4AF9-A1AD-61DD64B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006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DBD69F-F75D-46B8-B7A1-04903839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482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B7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B7C"/>
                </a:solidFill>
                <a:latin typeface="Aptos"/>
                <a:ea typeface="Aptos"/>
                <a:cs typeface="Aptos"/>
              </a:rPr>
              <a:t>benchmark-only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17A8F5-85EB-4469-BF35-E65B9D77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Designkrav for restråstoff, ikke norsk pilotbevis.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0C3584-BFB2-4AB3-B411-58E7D30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E8E1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7C2EED-CF43-4094-985A-209331CB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Skottland/Polen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E000C1-7FEB-4E52-91F5-DF2C1961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625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6670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542606-AB78-42DF-840A-53ED42EB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410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watchlist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A306C4-1163-47E6-8301-C158349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721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Skottland etter fulltekst; Polen kill-test.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95BEA5-56B2-42F6-9AC6-2C10379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B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5B7C"/>
                </a:solidFill>
                <a:latin typeface="Aptos"/>
                <a:ea typeface="Aptos"/>
                <a:cs typeface="Aptos"/>
              </a:rPr>
              <a:t>PROOF OBJECT: CASE MATURITY MATRIX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106742-EE20-41EC-A036-1E2AE32F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food-tg-0906-sprintboard-go-no-go-2026-06-10.md</a:t>
            </a:r>
          </a:p>
        </p:txBody>
      </p:sp>
    </p:spTree>
    <p:extLst>
      <p:ext uri="{BB962C8B-B14F-4D97-AF65-F5344CB8AC3E}">
        <p14:creationId xmlns:p14="http://schemas.microsoft.com/office/powerpoint/2010/main" val="3683268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E6F9F-1BCF-44E1-B2FF-27FA1FC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53B44-2C77-4A0B-AD8D-B3915F2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683F1-B7E5-4C43-B9E8-E9AF4A41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E1DD-BB78-47F5-973A-4BE3D316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Modeneste A-spor: fôr/import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03644EB3-5418-4723-B1CF-9996AFFA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E81A-297A-4CA4-8F94-D9ED627E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 BASELINE + DASK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575BD-A3BA-4867-BA53-2920560F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6A46A-37AB-4AEE-94C5-AB1A0184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95FCA-C700-4B47-BBA4-B879095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1D266-4C96-4901-B20C-4D9197C0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Fôr/import kobler importavhengighet, fôrråvarer, beredskap og aktørdata.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20A69-CCBD-40DC-A1E8-154497C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3335">
            <a:solidFill>
              <a:srgbClr val="2F6F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A7766-D31A-4ADE-A886-B5EB0BCE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IMPORTERT RÅVARE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EE63E-0FC7-48AF-A201-1819EFF7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handel / EUDR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1ADD9-5743-43D7-B219-5E2D23B0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5AF13-82A2-4629-B0B8-973CDDF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85960-7AA9-4FF9-B0B2-68DC0AC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2F6F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54E42-8F8E-4224-BDEC-689BC77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FÔRLEDD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6218D-7BC5-44D1-A606-AE4A6174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råvarekurv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392F2-5A05-4659-AB95-4EDF772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43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3DF-DBE6-4B4E-A242-A344549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9C244-C722-4290-9F1C-8134C80E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3335">
            <a:solidFill>
              <a:srgbClr val="2F6F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35D3D-12C0-4473-B871-F904EB5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PRODUKSJON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8A058-E369-4F8C-9EF9-45ACB0B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avhengighet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9BDD9-6795-449A-BDAD-309DB93E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B4DF2-012E-44A5-A7BE-285CFB94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3028"/>
          </a:solidFill>
          <a:ln xmlns:a="http://schemas.openxmlformats.org/drawingml/2006/main" w="0">
            <a:solidFill>
              <a:srgbClr val="24302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33C2E-A917-4A7C-8591-7C285BC0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2F6F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02CC65-E2A9-40DF-BA34-141225E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BEREDSKAP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2CA69-FF3D-4705-865B-6B3EA86C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klima / adoption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66EDD-0328-4FC4-88E6-DF9FF40D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992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C99A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4379EB-CF6B-40A2-8B26-9DA370B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889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DASK-lås: MOU-/relasjonsclaim for Brasil/kaffe forblir lukket til dokument, partsliste, scope og bruksrett er bekreftet.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E6BD3-7484-4EF9-9783-2B9A17B9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DASK-0906-001 i jt-uke25-sendepakke; claim-lock-rute</a:t>
            </a:r>
          </a:p>
        </p:txBody>
      </p:sp>
    </p:spTree>
    <p:extLst>
      <p:ext uri="{BB962C8B-B14F-4D97-AF65-F5344CB8AC3E}">
        <p14:creationId xmlns:p14="http://schemas.microsoft.com/office/powerpoint/2010/main" val="18932111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A0355-FC61-45FE-BDA9-57C0F9F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703CB-12CF-418E-9BD9-8256E0E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594AE-723B-47C1-810D-0E16C2A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4084D-74BD-4EFB-81B1-5A29D73C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Høyverdi restråstoff: 100% Fish som benchmark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07F69833-0AD4-4B87-9541-BD7DAC0B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315B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FA812-081B-411A-9401-B99CC3A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5D2CF-4DF3-4DB6-8288-2B040097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8F54F-38E0-47F5-B23D-20639CE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FCB5B-FE97-415F-87FC-951D78C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739B5-91B6-4492-B644-902638D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100% Fish er nyttig som designkrav, men kan ikke brukes som norsk pilotbevis.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17B08-FD69-420C-83F1-8BAF0E7E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FD908-2993-4350-85D9-9B2DE902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6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051F6-347C-47D3-B316-AAB878F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Total utnyttelse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16AF5-7D3E-4A7D-9841-69940FF4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F3308-BE15-4266-BC7A-3BFA46A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36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A471E-9A3A-4C54-91FE-1796EFB0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33850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Human konsum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E129E-3753-488B-8AEB-6C22926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B3437-6324-4B32-8676-3719186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36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25356-7F77-4433-94C1-37777E4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Høyverdi ingrediens / produkt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798A1-A35C-451E-ABD0-E2F279F4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5"/>
          </a:solidFill>
          <a:ln xmlns:a="http://schemas.openxmlformats.org/drawingml/2006/main" w="13335">
            <a:solidFill>
              <a:srgbClr val="1D2A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E338F-0637-48C8-8F74-F6A7375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36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9A3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C99A3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ACBEB-BE11-49F9-8275-CD1D3E07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Norsk overførbarhet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DF34F-7C99-41A1-9595-C078A3B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MÅ IKKE SIES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DC167-4141-40C6-8940-B068582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Ikke: "100% Fish beviser norsk pilot". Ja: "benchmark for designkrav og kaskadetenkning".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5CC98-148C-419D-94F2-8BF6213E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 deck-manus v0.1; ikke-si-liste</a:t>
            </a:r>
          </a:p>
        </p:txBody>
      </p:sp>
    </p:spTree>
    <p:extLst>
      <p:ext uri="{BB962C8B-B14F-4D97-AF65-F5344CB8AC3E}">
        <p14:creationId xmlns:p14="http://schemas.microsoft.com/office/powerpoint/2010/main" val="2555644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6B0312-CE95-4A25-959F-8EA14552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D9339-CB76-479E-8507-B8279006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92E1-11EC-416C-B97A-600C965F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2F02C-82E3-409B-8AB3-F1A99AF2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Praktiske B-løp: kvalitet før volum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9B98E22A-6D59-486F-B92C-8ADA942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C99A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7A9CF-B7F3-45EE-8529-DFC6D73C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 FORMULERING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55EDB-2438-401D-8F89-074BD0E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718B1-6EC3-4126-B565-93AC4A7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1243B-907F-487F-BF94-A1A0DFF9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1A2F0-656E-4CD7-8A06-C8331B28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De mest praktiske B-løpene flytter råvarer opp før kvaliteten faller og finner rene sidestrømmer med off-taker.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B0643-CFBF-4A29-B018-C0A7B6C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6863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4288">
            <a:solidFill>
              <a:srgbClr val="C99A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57792-E219-4DB7-869D-2FA60C6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3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A35"/>
                </a:solidFill>
                <a:latin typeface="Aptos"/>
                <a:ea typeface="Aptos"/>
                <a:cs typeface="Aptos"/>
              </a:rPr>
              <a:t>MATSVINNKVALITET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8399F-6E98-4616-85CF-AF07DEB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A0968-61BA-4EB3-8F2B-CFBE0B32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tidsvindu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B2E19-547A-4C16-9D26-84601C0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898C5-D4CA-4F39-AE67-7D3B6675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kjølekjede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5E9B8-F7F4-471B-B188-D8362BC2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CAF38-0A51-4B80-87E2-2DD299A6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sortering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D6070-9931-4E29-A2CF-D0D11B8C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0B977-6F03-43F2-A5F5-99DCF81B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mottaker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FA226-F5B8-48F8-9351-5FEC1A4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6863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4288">
            <a:solidFill>
              <a:srgbClr val="2F6F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CEC8F-0029-4EA0-A9C7-04D6E774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PROSESS-SIDESTRØM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E3531-DE0F-42EC-B8C4-DCF28A22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141AF-35BF-4E5E-9EFC-AE2DE1B5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290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råvareeier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D8B7A-EDCD-4B7D-9EA5-8601C38A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03A071-588B-4CF2-83BC-D2D3D429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hygiene og volum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083B6-F298-4DF2-B3EF-E507EDA2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B556B-134D-42E4-9755-DC00592F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sluttbruker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81F1E-498F-4DA2-9655-DAA1DBE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A38B4-7A6D-4871-827D-C142AED0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økonomi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4B0A4-7095-47E5-AFDE-60190002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6EE6E-36D9-452F-B9BF-F238B1B3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Ekstern bruk krever partnerbaseline. Før det: intern sortering, ikke løfte claims.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EA8B33-1B97-4B55-918C-B4F13723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 deck-manus v0.1; claim-lock kontrollspråk</a:t>
            </a:r>
          </a:p>
        </p:txBody>
      </p:sp>
    </p:spTree>
    <p:extLst>
      <p:ext uri="{BB962C8B-B14F-4D97-AF65-F5344CB8AC3E}">
        <p14:creationId xmlns:p14="http://schemas.microsoft.com/office/powerpoint/2010/main" val="1654765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82EE8-F954-4773-A6F9-63FF24CE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51F5-E2C5-4C59-A65E-283574D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95A08-39A4-4C64-B098-956C1C56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DAF02-F6FF-409A-B073-05AED2D7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C-gate: distribusjon og adoption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EA554490-36C4-4364-9925-CFAB054B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C"/>
          </a:solidFill>
          <a:ln xmlns:a="http://schemas.openxmlformats.org/drawingml/2006/main" w="0">
            <a:solidFill>
              <a:srgbClr val="315B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99E2E-61D4-4A3A-868E-5D4EF2C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NEEDS-ACTOR-VALIDATION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2911C-A478-46A4-A470-4FC1972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730F6-D4EB-40F1-99A0-9BBB854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6F4ED-77FD-43F3-BE78-85F972D6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E9FC0-B679-4025-99F6-03206745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C-gate bestemmer hvilke A/B-løsninger som faktisk kan tas i bruk.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36BAB-507E-4069-BA82-82BAD965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63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965C9-6A6C-42F3-A598-62E2B6B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A0976-5CFC-4E3E-803C-8D26671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Kjøper / off-taker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8FD8F-47F4-48DE-9CDD-461EB61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38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F869E-AACC-49BC-9FC7-3B9F125F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63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DD73D-9248-4F8A-B02A-CCED7FC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1DFCA-2B8C-4BE8-884A-74E56C3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Markedsadgang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7BE95-1BAE-4438-927B-3D52728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96FE7-701F-45E9-B2F7-BB94E172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63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5A428-7EB4-40A8-AF01-DDEF2720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94EC8-8BC2-4A42-B9BA-289DE9B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Kaldkjede / logistikk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F67E2-4368-4BBD-9CB8-833692D4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6996D-03F5-4EE7-8DC5-D5849689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163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EBC4A-DBB8-4536-9741-B75844E6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15225-C7C0-40BA-88D2-783053F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Volum og sesong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50E3B2-A5D9-47CB-9AF6-4B808B4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8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14966-FA63-4004-A2D5-13C3A0D7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29000"/>
            <a:ext cx="163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3335">
            <a:solidFill>
              <a:srgbClr val="315B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3D586A-FAB4-4972-8E37-42EA058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15B7C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302A2-33D0-4CB3-A863-B794DE1E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Juridisk / omdømme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7360B-D41F-431C-B652-4C4BB49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B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5B7C"/>
                </a:solidFill>
                <a:latin typeface="Aptos"/>
                <a:ea typeface="Aptos"/>
                <a:cs typeface="Aptos"/>
              </a:rPr>
              <a:t>TRYGG ARBEIDSTITTEL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18D7F9-9168-44A7-AFA3-BEEBE94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Distribusjon/adoption-gate for norsk frukt og grønt.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A70832-CD5C-4C0A-82F8-46212BE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24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Ikke: BAMA-spesifikke blokkering- eller marginclaims.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8157A9-E8E5-42B8-BA31-940DEDD9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 deck-manus v0.1; trygg språkbank</a:t>
            </a:r>
          </a:p>
        </p:txBody>
      </p:sp>
    </p:spTree>
    <p:extLst>
      <p:ext uri="{BB962C8B-B14F-4D97-AF65-F5344CB8AC3E}">
        <p14:creationId xmlns:p14="http://schemas.microsoft.com/office/powerpoint/2010/main" val="2073354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50D0B-96FB-49C9-BE8E-EFCFBA8F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A758-2C86-4053-9CDD-9DA74FD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9D5C4-9508-4A03-8711-4B54E029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099B4-8A06-4B03-AF07-C725530E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Nye relasjonscase: kaffe og kakao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02214ABA-B0C8-434C-AE99-548D4D6F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8E3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D9C6D-C5D2-483F-82CE-8CE5EAB5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NEEDS-PRIMARY-CHECK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2AD4C-B5C3-45BF-9F1A-C70F856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A4542-F9E8-45D5-8C38-976627F4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2CE08-E2AA-4DE5-849E-70E44562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C3695-3D7D-4EE1-9687-C9BD002D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800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Kaffe og kakao kan bli gode import-/EUDR-case, men relasjonsclaims må vente på dokument.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8F4FF-C0C0-4A8C-A551-9E651321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686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8E3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CAB4A-6D73-4C77-9A08-6A0F06E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DASK-0906-001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91399-C90D-41F9-B342-E6E88A4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Brasil / kaffe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2759B-4D5C-410E-813D-2C25D6B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95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D84FE-D4B0-4563-A252-439FFDE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MOU?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BBF50-5850-455B-A939-AC01BA3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6C7C5-396F-480D-B1B0-B09BF63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partsliste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931E0-7452-43AA-A177-656274E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9DE7D-012A-4F40-88B6-272321B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9E253-4F6C-449A-B51D-EBA58D8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B3EA0-156D-4052-8327-2635420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2305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bruksrett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65FE9-7C50-4A89-A2B2-8956EA0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686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8E3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C93F5-29D2-44CA-80BC-1B30F13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DASK-0906-002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36FE2-BCB0-4382-8D0C-6449F7C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Elfenbenskysten / kakao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FB6EF-D3BF-491C-A404-788A7239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95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2886C-A304-4065-92B2-139B9E7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organisasjonsnavn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B96CAC-EE0F-4855-8E54-BF75DB0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62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D3F23-419D-4E74-9A75-E4D65931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dokument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D93BBA-1DE9-4DC6-869C-D6F56540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0A4D1-F829-42AB-B493-C3D092E8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8E67D9-6D8C-4209-9790-E0CE8E8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3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985FFF-0339-4C39-9A9B-BAC9A80F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bruksrett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652CC-37DB-4951-B8AD-D4D332D6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3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E3F3A"/>
                </a:solidFill>
                <a:latin typeface="Aptos"/>
                <a:ea typeface="Aptos"/>
                <a:cs typeface="Aptos"/>
              </a:rPr>
              <a:t>Stoppsignal: ingen dokumenteier, dato, scope eller bruksrett = ikke claim-løft.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4EAE42-2C17-4DCE-B3C4-F6FC93DE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jt-uke25-sendepakke-2026-06-15.md</a:t>
            </a:r>
          </a:p>
        </p:txBody>
      </p:sp>
    </p:spTree>
    <p:extLst>
      <p:ext uri="{BB962C8B-B14F-4D97-AF65-F5344CB8AC3E}">
        <p14:creationId xmlns:p14="http://schemas.microsoft.com/office/powerpoint/2010/main" val="11795695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831F4-1E9E-412A-9BEF-7F05C14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81BD2-2B28-46AF-AEEB-8823C0FD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AC530-75A2-41AE-84BD-AB2292A1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5E0B2-1E80-4218-90C9-C102499B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Valio og spillvarme som smale exploratory løp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BFB7044D-25B8-4D2C-A7A1-CA1BFAD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C99A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2D696-0740-480E-8980-B0733C2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SMALT / DELVIS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94730-753E-4CCB-88B1-CDB06BFD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13D3E-F1F2-4677-951B-99CFA9D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2D30E-33F6-47F8-BAB2-205D818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E72C4-3D05-451E-B563-BC8863E4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Valio og spillvarme er nyttige læringscase hvis vi holder dem smale.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96115-842C-4E30-A799-6F6B4565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686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4288">
            <a:solidFill>
              <a:srgbClr val="C99A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B0ACE-30C6-4225-A59A-6EFB98E1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3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A35"/>
                </a:solidFill>
                <a:latin typeface="Aptos"/>
                <a:ea typeface="Aptos"/>
                <a:cs typeface="Aptos"/>
              </a:rPr>
              <a:t>VALIO / FINLAND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4CD0A-C517-4033-AD05-1DD6313C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Soyafri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2E24E-EF33-4CF4-95DE-C4CD6CA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8B69E-FB49-4990-BC74-3A33B63D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brukes smalt internt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71948-1512-4B46-8298-EF4A452D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38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43B3B-D134-4141-9430-D471FE6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52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fôrkurv/importandel mangler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34787-1CF3-4DED-9F1C-12B88D28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24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FC231-10B7-4D37-8F99-8B4CE9C4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ikke importfritt fôr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E0D1D-A982-4EEF-A20A-5C74CB69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6863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14288">
            <a:solidFill>
              <a:srgbClr val="2F6F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3B9B8-4F7D-4A8A-A708-B5F0317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HIMA / SPILLVARME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BC18E-AB5F-4BF2-AFA9-ECD0682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333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Operativt case</a:t>
            </a:r>
          </a:p>
          <a:p xmlns:a="http://schemas.openxmlformats.org/drawingml/2006/main">
            <a:pPr algn="l">
              <a:def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med datagap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5C152-9A4C-4B8C-A08C-15C7CF0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4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46922-0B95-4B3B-828B-4371E50B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intern casebruk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A0DE7-7179-4DA4-A0DA-0F79522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0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D2612-6908-4073-AC66-5AA6E776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andre case i radar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F652B-556E-48AD-A29B-26E22DB8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E3590-C3B0-4BFD-9368-52503A48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28"/>
                </a:solidFill>
                <a:latin typeface="Aptos"/>
                <a:ea typeface="Aptos"/>
                <a:cs typeface="Aptos"/>
              </a:rPr>
              <a:t>ikke nasjonalt TWh-potensial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8CEA3-1048-478B-A4F2-CDB5B9AD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 deck-manus v0.1; ikke-si-liste</a:t>
            </a:r>
          </a:p>
        </p:txBody>
      </p:sp>
    </p:spTree>
    <p:extLst>
      <p:ext uri="{BB962C8B-B14F-4D97-AF65-F5344CB8AC3E}">
        <p14:creationId xmlns:p14="http://schemas.microsoft.com/office/powerpoint/2010/main" val="6140429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9D462-83EA-4BA1-B8C3-FD5D6AA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E19A4-69DA-4317-8BFA-70392FDF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60FE5-068E-45D6-A751-8F76B696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3"/>
                </a:solidFill>
                <a:latin typeface="Aptos"/>
                <a:ea typeface="Aptos"/>
                <a:cs typeface="Aptos"/>
              </a:rPr>
              <a:t>FOOD TG / JT UKE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C091-F42C-4546-AC31-F4A4FCAE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Beslutninger og neste 14 dager</a:t>
            </a:r>
          </a:p>
        </p:txBody>
      </p:sp>
      <p:sp>
        <p:nvSpPr>
          <p:cNvPr id="5" name="status-pill">
            <a:extLst xmlns:a="http://schemas.openxmlformats.org/drawingml/2006/main">
              <a:ext uri="{FF2B5EF4-FFF2-40B4-BE49-F238E27FC236}">
                <a16:creationId xmlns:a16="http://schemas.microsoft.com/office/drawing/2014/main" id="{03A4A21B-DB9B-4802-9801-2F3F04D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834"/>
          </a:solidFill>
          <a:ln xmlns:a="http://schemas.openxmlformats.org/drawingml/2006/main" w="0">
            <a:solidFill>
              <a:srgbClr val="B858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D85DB-A3E0-4597-978E-F4E0F3CC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28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KLAR TIL JT-MØTE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8A198-2CAE-4FC1-B4F3-96D0FF1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8ECD0-0C70-44CE-9005-6E436CB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Internt beslutningsdeck v0.1 - ikke ekstern presentasjon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1CDC2-F10F-45A9-9956-2FFAC92A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998CE-2968-4D82-80BF-8799C5ED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3028"/>
                </a:solidFill>
                <a:latin typeface="Aptos Display"/>
                <a:ea typeface="Aptos Display"/>
                <a:cs typeface="Aptos Display"/>
              </a:rPr>
              <a:t>Neste steg er ikke mer bred research, men fire beslutninger som lar H1-leveransen bevege seg.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07800-2636-4E32-8474-EE526C2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C3358-DB10-4B69-BAE1-D4D1ECC3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B26D9-3417-41C2-85D4-5C98F5F9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6707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Minimumsvedtak casekort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ABA27-C6A6-43AA-84CF-8F138CB5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C99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83C3F-ED1F-444E-B40F-6B751EF2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11277-2C1D-4AAF-A58B-68351C2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478EB-7222-4617-A137-786B2C4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9572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H1/H2-todeling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DFACB-E683-436A-B0BE-E3EE002B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909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5"/>
          </a:solidFill>
          <a:ln xmlns:a="http://schemas.openxmlformats.org/drawingml/2006/main" w="0">
            <a:solidFill>
              <a:srgbClr val="C9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FC08A-0AEC-4730-A222-151A8CC2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C8594-0773-490B-8AB6-8122AA9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BB981-8E4C-486D-AD24-DBA98C62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2437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Port E event-go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4C82E-6873-453E-95E2-82C9E6E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834"/>
          </a:solidFill>
          <a:ln xmlns:a="http://schemas.openxmlformats.org/drawingml/2006/main" w="0">
            <a:solidFill>
              <a:srgbClr val="B858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86958-4F4C-4A7F-B4D5-BBEE2C06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45801-F6DB-49D4-BECD-B612F02E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8583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47843-DC1B-4070-99F6-11B6CE8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28"/>
                </a:solidFill>
                <a:latin typeface="Aptos"/>
                <a:ea typeface="Aptos"/>
                <a:cs typeface="Aptos"/>
              </a:rPr>
              <a:t>DASK-0906-001/002 sendes internt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1F2BC-7127-4845-82E7-D36600B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482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834"/>
          </a:solidFill>
          <a:ln xmlns:a="http://schemas.openxmlformats.org/drawingml/2006/main" w="0">
            <a:solidFill>
              <a:srgbClr val="B858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5B3FC-BF9F-43F7-AF31-1CECD234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5717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5"/>
          </a:solidFill>
          <a:ln xmlns:a="http://schemas.openxmlformats.org/drawingml/2006/main" w="9525">
            <a:solidFill>
              <a:srgbClr val="1D2A2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A8C963-03A7-42FD-B0AA-76C4E86A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3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A35"/>
                </a:solidFill>
                <a:latin typeface="Aptos"/>
                <a:ea typeface="Aptos"/>
                <a:cs typeface="Aptos"/>
              </a:rPr>
              <a:t>MØTERESULTAT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0B65AF-DDAC-4ED7-9884-8B8753A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Ja / endring / nei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EEA41-F55F-44A6-9E37-640D220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Hvis møtet blir orientering, beholdes alle vedtak som ikke vedtatt.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A97CA-CEB2-4A30-B5B8-C9A1F24F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3"/>
                </a:solidFill>
                <a:latin typeface="Aptos"/>
                <a:ea typeface="Aptos"/>
                <a:cs typeface="Aptos"/>
              </a:rPr>
              <a:t>Kilde: jt-beslutningssaker-uke-25-2026-06-15.md; jt-uke25-operatorlogg</a:t>
            </a:r>
          </a:p>
        </p:txBody>
      </p:sp>
    </p:spTree>
    <p:extLst>
      <p:ext uri="{BB962C8B-B14F-4D97-AF65-F5344CB8AC3E}">
        <p14:creationId xmlns:p14="http://schemas.microsoft.com/office/powerpoint/2010/main" val="136263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2026-06-11T15:16:22.3240000Z</dcterms:created>
  <dcterms:modified xsi:type="dcterms:W3CDTF">2026-06-11T15:16:22.3240000Z</dcterms:modified>
</coreProperties>
</file>