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  <p:sldId id="274" r:id="rId21"/>
    <p:sldId id="276" r:id="rId2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88"/>
  </p:normalViewPr>
  <p:slideViewPr>
    <p:cSldViewPr snapToGrid="0">
      <p:cViewPr varScale="1">
        <p:scale>
          <a:sx n="116" d="100"/>
          <a:sy n="116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9403476-0422-1A52-89D0-AB0BD3519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7F585F7-0078-9D83-C584-F6F4DEB1B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ACA8973-B6C8-504B-2ACC-F7B27C700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8321-E977-C447-9B6D-C233BE5C5382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33E94E9-182C-7A9E-2F7B-0B794CFE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2BFBFC1-5F50-2079-258F-5D5162339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AB6E-CABA-E04D-A996-6D588E65E72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7260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600E4FD-A4D1-94AC-ED8A-A52BBF943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5F3C66F-E26B-7BDE-0ACA-B8FC4E400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61805A3-B211-A536-4642-58A9EB981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8321-E977-C447-9B6D-C233BE5C5382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5CA3C7D-AA5F-9CE6-8D49-F9D29098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6D4D8F8-831E-9594-2218-FAF316BDC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AB6E-CABA-E04D-A996-6D588E65E72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32624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644A3B-9159-D81E-7169-EF5754A4A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BE0042F-239D-294C-527A-3F6B84F7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40181B0-3E55-045E-21E4-35741D11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8321-E977-C447-9B6D-C233BE5C5382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BECD42D-F352-437B-E8DC-09E4AA194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D53929E-7208-DDA8-648E-E4340723C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AB6E-CABA-E04D-A996-6D588E65E72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001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6F687B6-20A3-A14A-4B6C-C92DF3AA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A49EF05-B5B0-FEE3-77B2-6AB2FF2EB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6266356E-AA5B-AA62-55AA-A9605DBC2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BB16703A-A8A3-E2CD-F074-9CA8E50DC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8321-E977-C447-9B6D-C233BE5C5382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B43BB00-4D4A-136C-3F85-7DEFA550D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B942FB5F-FA67-C509-E831-010F9746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AB6E-CABA-E04D-A996-6D588E65E72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66600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8048AD7-7C5F-9E7A-7F51-A0CF78C50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737546A8-A39E-C7F0-BC36-304D9E862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FF7AB53-5381-1D66-E6B4-D8BBDD984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8B6D429A-E138-C9C2-B934-F04506237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EEECAA99-4466-E41F-FCB0-B6B41DDED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C21F70AF-3C92-6CE6-D444-1F54DEA30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8321-E977-C447-9B6D-C233BE5C5382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15DD8155-E30E-ABF0-B57D-EDCFDB46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09D9ABC4-2162-5ABF-85D7-7E35C2620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AB6E-CABA-E04D-A996-6D588E65E72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09344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F4CECD9-29C4-CBBA-3657-318838A4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612742EC-5F00-A8D3-B7BE-8F7506601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8321-E977-C447-9B6D-C233BE5C5382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BBB540D6-75BC-3135-B1C9-DF1E868FF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5D94B978-13AF-40C3-9E99-260810F3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AB6E-CABA-E04D-A996-6D588E65E72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1513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6259D4B9-7769-544A-F808-969FF010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8321-E977-C447-9B6D-C233BE5C5382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6406C048-9AA0-6D4B-567C-8D97A532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E498395-C210-EA25-3735-21A3A87A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AB6E-CABA-E04D-A996-6D588E65E72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06893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8CED8D3-49E1-53E0-9093-4DCAB6AB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9309B62-3685-8693-239D-765452F2E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B769307C-5833-6456-5050-A11F34B90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4212451B-EBD4-E133-DB1B-6605B205A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8321-E977-C447-9B6D-C233BE5C5382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11B7BD6-FCB7-5883-72A7-BBA74F55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8965F5AE-5582-2840-636E-2E6AA5A60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AB6E-CABA-E04D-A996-6D588E65E72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653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3203578-4A51-1B8F-FD3F-97F81D647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5199DC03-BFC7-A1AC-AF81-EBBBC8B82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D00A6C13-71C8-A388-9F6C-6F77A62DF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627B358-E16C-FC1D-1770-B0B688B4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8321-E977-C447-9B6D-C233BE5C5382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F90586D5-BCDB-A618-F9DC-1E851F00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17743E2F-3155-901E-4223-1742AF26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AB6E-CABA-E04D-A996-6D588E65E72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22904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7F3C870-3B3B-FAB5-1DD0-DED33352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B0E5846A-EFB2-7439-AC6B-35E5C462D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4925D76-AAE6-768F-CFF4-EA1E4731D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8321-E977-C447-9B6D-C233BE5C5382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64C7D0A-DA10-ADD2-D0C3-9E1331C2E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22B0ECC-8C51-4E2C-18FF-150B39E8C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AB6E-CABA-E04D-A996-6D588E65E72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2325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DB00B8B2-48C8-1388-01F7-648C9F27C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DA348187-EB7D-15C9-A127-5A6C1ACF7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BE0A5AE-4200-E04B-905C-50FD24BFD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B8321-E977-C447-9B6D-C233BE5C5382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9554F5A-A9BF-05E5-0D2A-6B3861A80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8EC490E-4AD7-7A88-25BB-28CBC9674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EAB6E-CABA-E04D-A996-6D588E65E72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93412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C923FCF9-B89D-3BFB-FDBA-77E7DF46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F8BAE17-9294-6BA6-BDE6-D4B2EA6A3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90097D2-F985-A0DF-08D9-24C1180AB4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B8321-E977-C447-9B6D-C233BE5C5382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22DC01D-D35C-FB38-3851-7AE7A55C3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B79F236-FF42-2E91-5715-C5F1DA38B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EAB6E-CABA-E04D-A996-6D588E65E72C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5037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tittel 2">
            <a:extLst>
              <a:ext uri="{FF2B5EF4-FFF2-40B4-BE49-F238E27FC236}">
                <a16:creationId xmlns:a16="http://schemas.microsoft.com/office/drawing/2014/main" id="{BA6DB11D-F84A-B9F9-1657-909E14B17A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altLang="nb-NO" dirty="0">
                <a:solidFill>
                  <a:srgbClr val="1F1F1F"/>
                </a:solidFill>
                <a:latin typeface="Google Sans"/>
              </a:rPr>
              <a:t>Tirsdag, 31. mars</a:t>
            </a:r>
            <a:r>
              <a:rPr lang="nb-NO" altLang="nb-NO" b="1" dirty="0">
                <a:solidFill>
                  <a:srgbClr val="1F1F1F"/>
                </a:solidFill>
                <a:latin typeface="Google Sans"/>
              </a:rPr>
              <a:t>⋅</a:t>
            </a:r>
            <a:r>
              <a:rPr lang="nb-NO" altLang="nb-NO" dirty="0">
                <a:solidFill>
                  <a:srgbClr val="1F1F1F"/>
                </a:solidFill>
                <a:latin typeface="Google Sans"/>
              </a:rPr>
              <a:t>9:00–9:45am</a:t>
            </a:r>
            <a:endParaRPr lang="nb-NO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AB0B9D0-648E-B126-6516-0842B54420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524000" y="2023777"/>
            <a:ext cx="916250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32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oogle Sans"/>
              </a:rPr>
              <a:t>Webbinarium</a:t>
            </a:r>
            <a:r>
              <a:rPr kumimoji="0" lang="nb-NO" altLang="nb-NO" sz="32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"/>
              </a:rPr>
              <a:t> Regional </a:t>
            </a:r>
            <a:r>
              <a:rPr kumimoji="0" lang="nb-NO" altLang="nb-NO" sz="32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oogle Sans"/>
              </a:rPr>
              <a:t>resurskartlÃ¤ggning</a:t>
            </a:r>
            <a:r>
              <a:rPr kumimoji="0" lang="nb-NO" altLang="nb-NO" sz="32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kumimoji="0" lang="nb-NO" altLang="nb-NO" sz="3200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Google Sans"/>
              </a:rPr>
              <a:t>RE:Source</a:t>
            </a:r>
            <a:endParaRPr kumimoji="0" lang="nb-NO" altLang="nb-NO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77457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825B6E7-C1AF-E27F-C7F8-4D06D817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altLang="nb-NO" b="1" dirty="0">
                <a:solidFill>
                  <a:srgbClr val="000000"/>
                </a:solidFill>
                <a:latin typeface="Arial" panose="020B0604020202020204" pitchFamily="34" charset="0"/>
              </a:rPr>
              <a:t>Sammenfatning – </a:t>
            </a:r>
            <a:r>
              <a:rPr lang="nb-NO" altLang="nb-NO" b="1" dirty="0" err="1">
                <a:solidFill>
                  <a:srgbClr val="000000"/>
                </a:solidFill>
                <a:latin typeface="Arial" panose="020B0604020202020204" pitchFamily="34" charset="0"/>
              </a:rPr>
              <a:t>Webinar</a:t>
            </a:r>
            <a:r>
              <a:rPr lang="nb-NO" altLang="nb-NO" b="1" dirty="0">
                <a:solidFill>
                  <a:srgbClr val="000000"/>
                </a:solidFill>
                <a:latin typeface="Arial" panose="020B0604020202020204" pitchFamily="34" charset="0"/>
              </a:rPr>
              <a:t> om regional ressurskartlegging (</a:t>
            </a:r>
            <a:r>
              <a:rPr lang="nb-NO" altLang="nb-NO" b="1" dirty="0" err="1">
                <a:solidFill>
                  <a:srgbClr val="000000"/>
                </a:solidFill>
                <a:latin typeface="Arial" panose="020B0604020202020204" pitchFamily="34" charset="0"/>
              </a:rPr>
              <a:t>RE:Source</a:t>
            </a:r>
            <a:r>
              <a:rPr lang="nb-NO" altLang="nb-NO" b="1" dirty="0">
                <a:solidFill>
                  <a:srgbClr val="000000"/>
                </a:solidFill>
                <a:latin typeface="Arial" panose="020B0604020202020204" pitchFamily="34" charset="0"/>
              </a:rPr>
              <a:t>, 31. mars)</a:t>
            </a:r>
            <a:br>
              <a:rPr lang="nb-NO" altLang="nb-NO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45B61D9-9BC3-E31B-305C-4A5F3E184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nb-NO" altLang="nb-NO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Webinaret</a:t>
            </a:r>
            <a:r>
              <a:rPr kumimoji="0" lang="nb-NO" altLang="nb-NO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presenterte ressurskartlegging som et sentralt verktøy for å akselerere den sirkulære omstillingen på regionalt nivå. Hovedbudskapet var at systematisk måling og kartlegging av ressursstrømmer gir et bedre beslutningsgrunnlag, mer treffsikre prioriteringer og økt evne til å utvikle sirkulære løsninger i praksis.</a:t>
            </a:r>
            <a:endParaRPr lang="nb-NO" altLang="nb-NO" sz="5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nb-NO" altLang="nb-NO" dirty="0">
                <a:solidFill>
                  <a:srgbClr val="000000"/>
                </a:solidFill>
                <a:latin typeface="Arial" panose="020B0604020202020204" pitchFamily="34" charset="0"/>
              </a:rPr>
              <a:t>Det ble introdusert en ny metode som skal gjøre det mulig for kommuner og regioner å arbeide mer:</a:t>
            </a:r>
            <a:endParaRPr lang="nb-NO" altLang="nb-NO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nb-NO" altLang="nb-NO" b="1" dirty="0">
                <a:solidFill>
                  <a:srgbClr val="000000"/>
                </a:solidFill>
                <a:latin typeface="Arial" panose="020B0604020202020204" pitchFamily="34" charset="0"/>
              </a:rPr>
              <a:t>Enhetlig</a:t>
            </a:r>
            <a:r>
              <a:rPr lang="nb-NO" altLang="nb-NO" dirty="0">
                <a:solidFill>
                  <a:srgbClr val="000000"/>
                </a:solidFill>
                <a:latin typeface="Arial" panose="020B0604020202020204" pitchFamily="34" charset="0"/>
              </a:rPr>
              <a:t> – med felles metodikk og begrepsapparat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nb-NO" altLang="nb-NO" b="1" dirty="0">
                <a:solidFill>
                  <a:srgbClr val="000000"/>
                </a:solidFill>
                <a:latin typeface="Arial" panose="020B0604020202020204" pitchFamily="34" charset="0"/>
              </a:rPr>
              <a:t>Sammenlignbart</a:t>
            </a:r>
            <a:r>
              <a:rPr lang="nb-NO" altLang="nb-NO" dirty="0">
                <a:solidFill>
                  <a:srgbClr val="000000"/>
                </a:solidFill>
                <a:latin typeface="Arial" panose="020B0604020202020204" pitchFamily="34" charset="0"/>
              </a:rPr>
              <a:t> – på tvers av geografier og sektorer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nb-NO" altLang="nb-NO" b="1" dirty="0">
                <a:solidFill>
                  <a:srgbClr val="000000"/>
                </a:solidFill>
                <a:latin typeface="Arial" panose="020B0604020202020204" pitchFamily="34" charset="0"/>
              </a:rPr>
              <a:t>Operasjonelt</a:t>
            </a:r>
            <a:r>
              <a:rPr lang="nb-NO" altLang="nb-NO" dirty="0">
                <a:solidFill>
                  <a:srgbClr val="000000"/>
                </a:solidFill>
                <a:latin typeface="Arial" panose="020B0604020202020204" pitchFamily="34" charset="0"/>
              </a:rPr>
              <a:t> – med praktisk anvendelse i planlegging og utvikling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nb-NO" altLang="nb-NO" dirty="0">
                <a:solidFill>
                  <a:srgbClr val="000000"/>
                </a:solidFill>
                <a:latin typeface="Arial" panose="020B0604020202020204" pitchFamily="34" charset="0"/>
              </a:rPr>
              <a:t>Et viktig case som ble løftet frem er </a:t>
            </a:r>
            <a:r>
              <a:rPr lang="nb-NO" altLang="nb-NO" b="1" dirty="0">
                <a:solidFill>
                  <a:srgbClr val="000000"/>
                </a:solidFill>
                <a:latin typeface="Arial" panose="020B0604020202020204" pitchFamily="34" charset="0"/>
              </a:rPr>
              <a:t>Malmö kommune</a:t>
            </a:r>
            <a:r>
              <a:rPr lang="nb-NO" altLang="nb-NO" dirty="0">
                <a:solidFill>
                  <a:srgbClr val="000000"/>
                </a:solidFill>
                <a:latin typeface="Arial" panose="020B0604020202020204" pitchFamily="34" charset="0"/>
              </a:rPr>
              <a:t>, som har tatt store steg i sitt sirkulære næringslivsarbeid gjennom bruk av </a:t>
            </a:r>
            <a:r>
              <a:rPr lang="nb-NO" altLang="nb-NO" dirty="0" err="1">
                <a:solidFill>
                  <a:srgbClr val="000000"/>
                </a:solidFill>
                <a:latin typeface="Arial" panose="020B0604020202020204" pitchFamily="34" charset="0"/>
              </a:rPr>
              <a:t>ressursstrømskartlegging</a:t>
            </a:r>
            <a:r>
              <a:rPr lang="nb-NO" altLang="nb-NO" dirty="0">
                <a:solidFill>
                  <a:srgbClr val="000000"/>
                </a:solidFill>
                <a:latin typeface="Arial" panose="020B0604020202020204" pitchFamily="34" charset="0"/>
              </a:rPr>
              <a:t>. Dette illustrerer hvordan metodikken kan brukes konkret i by- og næringsutvikling.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nb-NO" altLang="nb-NO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nb-NO" altLang="nb-NO" dirty="0">
                <a:solidFill>
                  <a:srgbClr val="000000"/>
                </a:solidFill>
                <a:latin typeface="Arial" panose="020B0604020202020204" pitchFamily="34" charset="0"/>
              </a:rPr>
              <a:t>Det ble også pekt på behovet for å:</a:t>
            </a:r>
            <a:endParaRPr lang="nb-NO" altLang="nb-NO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nb-NO" altLang="nb-NO" dirty="0">
                <a:solidFill>
                  <a:srgbClr val="000000"/>
                </a:solidFill>
                <a:latin typeface="Arial" panose="020B0604020202020204" pitchFamily="34" charset="0"/>
              </a:rPr>
              <a:t>Følge utviklingen tett videre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nb-NO" altLang="nb-NO" dirty="0">
                <a:solidFill>
                  <a:srgbClr val="000000"/>
                </a:solidFill>
                <a:latin typeface="Arial" panose="020B0604020202020204" pitchFamily="34" charset="0"/>
              </a:rPr>
              <a:t>Bygge kompetanse og kapasitet lokalt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nb-NO" altLang="nb-NO" dirty="0">
                <a:solidFill>
                  <a:srgbClr val="000000"/>
                </a:solidFill>
                <a:latin typeface="Arial" panose="020B0604020202020204" pitchFamily="34" charset="0"/>
              </a:rPr>
              <a:t>Knytte arbeidet til aktører og fagmiljøer (bl.a. nevnt kontaktperson Emma </a:t>
            </a:r>
            <a:r>
              <a:rPr lang="nb-NO" altLang="nb-NO" dirty="0" err="1">
                <a:solidFill>
                  <a:srgbClr val="000000"/>
                </a:solidFill>
                <a:latin typeface="Arial" panose="020B0604020202020204" pitchFamily="34" charset="0"/>
              </a:rPr>
              <a:t>Börjesson</a:t>
            </a:r>
            <a:r>
              <a:rPr lang="nb-NO" altLang="nb-NO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nb-NO" altLang="nb-NO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nb-NO" altLang="nb-NO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Relevans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nb-NO" altLang="nb-NO" sz="1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Webinaret</a:t>
            </a:r>
            <a:r>
              <a:rPr kumimoji="0" lang="nb-NO" altLang="nb-NO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bekrefter at</a:t>
            </a:r>
            <a:r>
              <a:rPr lang="nb-NO" altLang="nb-NO" sz="5100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nb-NO" altLang="nb-NO" b="1" dirty="0">
                <a:solidFill>
                  <a:srgbClr val="000000"/>
                </a:solidFill>
                <a:latin typeface="Arial" panose="020B0604020202020204" pitchFamily="34" charset="0"/>
              </a:rPr>
              <a:t>ressurskartlegging (MFA/</a:t>
            </a:r>
            <a:r>
              <a:rPr lang="nb-NO" altLang="nb-NO" b="1" dirty="0" err="1">
                <a:solidFill>
                  <a:srgbClr val="000000"/>
                </a:solidFill>
                <a:latin typeface="Arial" panose="020B0604020202020204" pitchFamily="34" charset="0"/>
              </a:rPr>
              <a:t>flow</a:t>
            </a:r>
            <a:r>
              <a:rPr lang="nb-NO" altLang="nb-NO" b="1" dirty="0">
                <a:solidFill>
                  <a:srgbClr val="000000"/>
                </a:solidFill>
                <a:latin typeface="Arial" panose="020B0604020202020204" pitchFamily="34" charset="0"/>
              </a:rPr>
              <a:t>-analyser)</a:t>
            </a:r>
            <a:r>
              <a:rPr lang="nb-NO" altLang="nb-NO" dirty="0">
                <a:solidFill>
                  <a:srgbClr val="000000"/>
                </a:solidFill>
                <a:latin typeface="Arial" panose="020B0604020202020204" pitchFamily="34" charset="0"/>
              </a:rPr>
              <a:t> er i ferd med å bli en standard tilnærming for offentlig sektor i sirkulærøkonomien – og at det nå utvikles mer skalerbare og sammenlignbare metoder.</a:t>
            </a:r>
            <a:endParaRPr lang="nb-NO" altLang="nb-NO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nb-NO" altLang="nb-NO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nb-N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5D0355-188E-4A02-115C-7B92604EC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nb-NO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7259FF6-68FA-96F3-5992-843AAEE44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46147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3F5FEA-FDB6-963C-1F80-5308C9C7C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70E5B88-C560-FDF0-24AB-FF85C54D9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4" name="Bilde 3" descr="Et bilde som inneholder tekst, Font, programvare, Nettside&#10;&#10;KI-generert innhold kan være feil.">
            <a:extLst>
              <a:ext uri="{FF2B5EF4-FFF2-40B4-BE49-F238E27FC236}">
                <a16:creationId xmlns:a16="http://schemas.microsoft.com/office/drawing/2014/main" id="{CD8DB2FC-A0A0-857A-2A71-AF74E7F05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12" y="594054"/>
            <a:ext cx="9946865" cy="566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9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19AD5D8-47D8-2C54-66AD-1BA15E99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Plassholder for innhold 4" descr="Et bilde som inneholder tekst, programvare, Nettside, Nettsted&#10;&#10;KI-generert innhold kan være feil.">
            <a:extLst>
              <a:ext uri="{FF2B5EF4-FFF2-40B4-BE49-F238E27FC236}">
                <a16:creationId xmlns:a16="http://schemas.microsoft.com/office/drawing/2014/main" id="{54150B4E-D9D4-5E87-4839-6E69018E8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9971" y="1825625"/>
            <a:ext cx="66920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23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5F3944C-E603-5810-9EE6-F801DFF1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890A61D-53DB-DC60-C48B-CAA96AE37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4" name="Bilde 3" descr="Et bilde som inneholder tekst, skjermbilde, programvare, Nettside&#10;&#10;KI-generert innhold kan være feil.">
            <a:extLst>
              <a:ext uri="{FF2B5EF4-FFF2-40B4-BE49-F238E27FC236}">
                <a16:creationId xmlns:a16="http://schemas.microsoft.com/office/drawing/2014/main" id="{526309EF-D624-E62D-7E58-919AF788B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55590"/>
            <a:ext cx="11024990" cy="562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63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F09C3DB-B553-6551-8821-D8A2AB71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Plassholder for innhold 4" descr="Et bilde som inneholder skjermbilde, person, tekst&#10;&#10;KI-generert innhold kan være feil.">
            <a:extLst>
              <a:ext uri="{FF2B5EF4-FFF2-40B4-BE49-F238E27FC236}">
                <a16:creationId xmlns:a16="http://schemas.microsoft.com/office/drawing/2014/main" id="{FAC2E791-6D51-2F3A-3958-633C0B070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27906"/>
            <a:ext cx="9969245" cy="559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177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0C4EA6-2210-D975-9B0F-8080646E4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Plassholder for innhold 4" descr="Et bilde som inneholder tekst, skjermbilde&#10;&#10;KI-generert innhold kan være feil.">
            <a:extLst>
              <a:ext uri="{FF2B5EF4-FFF2-40B4-BE49-F238E27FC236}">
                <a16:creationId xmlns:a16="http://schemas.microsoft.com/office/drawing/2014/main" id="{75E08049-8304-A82A-CEA9-69789949F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91677" y="1690686"/>
            <a:ext cx="2367742" cy="4351338"/>
          </a:xfrm>
          <a:prstGeom prst="rect">
            <a:avLst/>
          </a:prstGeom>
        </p:spPr>
      </p:pic>
      <p:pic>
        <p:nvPicPr>
          <p:cNvPr id="7" name="Bilde 6" descr="Et bilde som inneholder tekst, skjermbilde&#10;&#10;KI-generert innhold kan være feil.">
            <a:extLst>
              <a:ext uri="{FF2B5EF4-FFF2-40B4-BE49-F238E27FC236}">
                <a16:creationId xmlns:a16="http://schemas.microsoft.com/office/drawing/2014/main" id="{D59CA156-CC2F-4CD2-7E15-CADC3B004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065" y="1690686"/>
            <a:ext cx="2477319" cy="4802187"/>
          </a:xfrm>
          <a:prstGeom prst="rect">
            <a:avLst/>
          </a:prstGeom>
        </p:spPr>
      </p:pic>
      <p:pic>
        <p:nvPicPr>
          <p:cNvPr id="9" name="Bilde 8" descr="Et bilde som inneholder tekst, skjermbilde&#10;&#10;KI-generert innhold kan være feil.">
            <a:extLst>
              <a:ext uri="{FF2B5EF4-FFF2-40B4-BE49-F238E27FC236}">
                <a16:creationId xmlns:a16="http://schemas.microsoft.com/office/drawing/2014/main" id="{DE804B77-6527-65E4-DFF3-60FF80018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384" y="1690686"/>
            <a:ext cx="2427965" cy="4691575"/>
          </a:xfrm>
          <a:prstGeom prst="rect">
            <a:avLst/>
          </a:prstGeom>
        </p:spPr>
      </p:pic>
      <p:pic>
        <p:nvPicPr>
          <p:cNvPr id="11" name="Bilde 10" descr="Et bilde som inneholder tekst, skjermbilde&#10;&#10;KI-generert innhold kan være feil.">
            <a:extLst>
              <a:ext uri="{FF2B5EF4-FFF2-40B4-BE49-F238E27FC236}">
                <a16:creationId xmlns:a16="http://schemas.microsoft.com/office/drawing/2014/main" id="{AB9E7B0D-D2DF-0176-9B07-F31FEB9E8A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703" y="1554203"/>
            <a:ext cx="2653848" cy="493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0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20CA8EA-AC46-6DD7-1869-CA39C3A41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Plassholder for innhold 4" descr="Et bilde som inneholder tekst, Font, skjermbilde&#10;&#10;KI-generert innhold kan være feil.">
            <a:extLst>
              <a:ext uri="{FF2B5EF4-FFF2-40B4-BE49-F238E27FC236}">
                <a16:creationId xmlns:a16="http://schemas.microsoft.com/office/drawing/2014/main" id="{72AEA511-3134-2F72-B72E-BA9090B20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9806" y="1825625"/>
            <a:ext cx="72923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9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4E79128-414F-B5AD-7B87-4CAE35FA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Plassholder for innhold 4" descr="Et bilde som inneholder tekst, Font, skjermbilde&#10;&#10;KI-generert innhold kan være feil.">
            <a:extLst>
              <a:ext uri="{FF2B5EF4-FFF2-40B4-BE49-F238E27FC236}">
                <a16:creationId xmlns:a16="http://schemas.microsoft.com/office/drawing/2014/main" id="{F47EC3AB-C685-D499-B085-1E90ABC25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287" y="780146"/>
            <a:ext cx="9880446" cy="571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72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D83936D-D261-EBEA-E35E-E5A07A53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6C9470D-A181-4F57-E5C2-155142E29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 dirty="0"/>
          </a:p>
        </p:txBody>
      </p:sp>
      <p:pic>
        <p:nvPicPr>
          <p:cNvPr id="4" name="Bilde 3" descr="Et bilde som inneholder skjermbilde, tekst&#10;&#10;KI-generert innhold kan være feil.">
            <a:extLst>
              <a:ext uri="{FF2B5EF4-FFF2-40B4-BE49-F238E27FC236}">
                <a16:creationId xmlns:a16="http://schemas.microsoft.com/office/drawing/2014/main" id="{B22FB948-A66B-87DA-D829-76E8573E8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7" y="-1"/>
            <a:ext cx="11740539" cy="663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11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B9095D6-2015-DABC-DDE8-88D8EC1BF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Plassholder for innhold 4" descr="Et bilde som inneholder tekst, skjermbilde, tegnefilm, grafisk design&#10;&#10;KI-generert innhold kan være feil.">
            <a:extLst>
              <a:ext uri="{FF2B5EF4-FFF2-40B4-BE49-F238E27FC236}">
                <a16:creationId xmlns:a16="http://schemas.microsoft.com/office/drawing/2014/main" id="{12F172BC-1635-E626-8CBA-09C432A0E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6282" y="1825625"/>
            <a:ext cx="77794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436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7A6E6BA-9BC7-B5E7-DE7B-D7E0F7A61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23EFFED-8176-ED90-2C90-08BF512ED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Utfordring med sirkulære næringsliv, stor steg for Malmø kommune – med Ressurs-strøm-kartleggingen. </a:t>
            </a:r>
          </a:p>
          <a:p>
            <a:r>
              <a:rPr lang="nb-NO" dirty="0"/>
              <a:t>Viktig å følge utviklingen. Følg opp Emma </a:t>
            </a:r>
            <a:r>
              <a:rPr lang="nb-NO" dirty="0" err="1"/>
              <a:t>Børjesson</a:t>
            </a:r>
            <a:r>
              <a:rPr lang="nb-NO" dirty="0"/>
              <a:t>(tidligere Halogen). </a:t>
            </a:r>
          </a:p>
        </p:txBody>
      </p:sp>
    </p:spTree>
    <p:extLst>
      <p:ext uri="{BB962C8B-B14F-4D97-AF65-F5344CB8AC3E}">
        <p14:creationId xmlns:p14="http://schemas.microsoft.com/office/powerpoint/2010/main" val="860856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BBEB4A4-855E-9379-E3D3-8B869469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Læring 1: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4ACBF0-4F50-1B2E-FE00-63DA9DC079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14700" y="0"/>
            <a:ext cx="36626675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Denne delen handler om den praktiske nytten av lokale ressurskartlegginger.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Poenget er at slike kartlegginger ikke bare er analyser, men kan brukes som strategisk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beslutningsgrunnlag i kommuner og regioner for å redusere bruken av jomfruelige materialer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og styrke sirkulær ressursbruk. Metoden gjør det mulig å identifisere hvilke sektorer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som er mest ressursintensive, og hvor potensialet for forbedring er størst.</a:t>
            </a: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Kartleggingen tar utgangspunkt i fem ressurskategorier: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biomasse, metaller, mineraler, fossile ressurser og resirkulerte materialer.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Resultatene viser at det er store lokale forskjeller mellom kommuner og regioner.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Biomasse dominerer særlig i </a:t>
            </a:r>
            <a:r>
              <a:rPr kumimoji="0" lang="nb-NO" altLang="nb-NO" sz="12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skogsrike</a:t>
            </a: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områder, mens steder med mye bygging har høyere andel mineraler.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Noen regioner og kommuner har også høyere andel resirkulerte materialer enn andre. Et viktig poeng er derfor at nasjonale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gjennomsnitt skjuler betydelige lokale variasjoner, og at lokal rapportering gir mer relevant innsikt for handling.</a:t>
            </a: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Metoden måler vekt av innkjøpte materialer,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ikke livsløp, energi, transport, vann eller menneskelige ressurser.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 bygger på et premiss om at store, toneangivende virksomheter i 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sektor kan representere sektoren som helhet, siden de ofte står for en svært stor andel av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aktivitetene i regionen. På denne måten kan man få et godt nok bilde uten å kartlegge absolutt alle aktører.</a:t>
            </a: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Arbeidet skjer i flere trinn: først avgrenses område, år og formål,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deretter samles data inn og kobles til næringssektorer gjennom SNI-klassifisering.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Innkjøp i kroner omregnes så til materialvekter, før resultatene sammenstilles og tolkes i lys av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lokale forhold. Hensikten er ikke at metoden i seg selv er slutten på arbeidet, men at den skal være første steg i 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videre prosess der kommunen eller regionen kan prioritere hvor det bør gjøres dypere analyser og settes inn tiltak.</a:t>
            </a: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Metodisk kombinerer tilnærmingen </a:t>
            </a:r>
            <a:r>
              <a:rPr kumimoji="0" lang="nb-NO" altLang="nb-NO" sz="12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</a:t>
            </a: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-up og top-</a:t>
            </a:r>
            <a:r>
              <a:rPr kumimoji="0" lang="nb-NO" altLang="nb-NO" sz="12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nb-NO" altLang="nb-NO" sz="12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</a:t>
            </a: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-up betyr at data fra konkrete virksomheter brukes til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å representere en sektor lokalt eller regionalt. Top-</a:t>
            </a:r>
            <a:r>
              <a:rPr kumimoji="0" lang="nb-NO" altLang="nb-NO" sz="12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betyr at nasjonale data kan skaleres ned til regionalt nivå når lokale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data mangler. Begge tilnærmingene brukes for å få fram et mest mulig nyttig bilde av ressursbruken.</a:t>
            </a: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Kort sagt: Metoden er et praktisk verktøy for å synliggjøre lokal ressursbruk, avdekke forskjeller mellom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steder, og gi kommuner og regioner et bedre grunnlag for å prioritere sirkulære tiltak der effekten kan bli størst.</a:t>
            </a: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nb-NO" altLang="nb-N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943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69CE0CA-44AA-D4BC-6BC6-3C58C30E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LÆRING 2 / Malmø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A0C230-5DE2-8CFC-44C0-204BFEEFCF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25689"/>
            <a:ext cx="1108091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Denne delen løfter frem at lokale materialstrømsanalyser er en nøkkel for å drive sirkulær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omstilling videre, og setter dette inn i en konkret kommunal kontekst gjennom erfaringene fra Malmö.</a:t>
            </a:r>
            <a:endParaRPr kumimoji="0" lang="nb-NO" altLang="nb-N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nb-NO" altLang="nb-N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Malmö kommune opplever kartleggingene som svært nyttige, særlig fordi de gir data som kan kobles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direkte til mål i miljøprogrammet, spesielt knyttet til økt ressurseffektivitet (mål 12). Kartleggingene gjør det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mulig å:</a:t>
            </a:r>
            <a:endParaRPr kumimoji="0" lang="nb-NO" altLang="nb-N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følge utviklingen over tid (både bakover gjennom “backcasting” og fremover),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etablere indikatorer der det tidligere manglet data,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og styrke oppfølgingen av politiske mål.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nb-NO" altLang="nb-N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peker også på at metoden gir ny innsikt, men samtidig behov for videre utvikling.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eksempel ble det identifisert at enkelte sektorer – som bygg og anlegg – er så store og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sammensatte at de bør brytes ned i mer detaljerte kategorier for å gi mer presis styringsinformasjon.</a:t>
            </a:r>
            <a:endParaRPr kumimoji="0" lang="nb-NO" altLang="nb-N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nb-NO" altLang="nb-N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Kort sagt: Erfaringen fra Malmö er at slike kartlegginger ikke bare er analytiske øvelser, men praktiske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verktøy for styring, oppfølging og læring i kommunens sirkulære arbeid, samtidig som de må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videreutvikles for å bli enda mer treffsikre.</a:t>
            </a:r>
            <a:endParaRPr kumimoji="0" lang="nb-NO" altLang="nb-N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130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1D5B4A6-5600-1508-202C-C3F0A446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9378"/>
            <a:ext cx="10515600" cy="1325563"/>
          </a:xfrm>
        </p:spPr>
        <p:txBody>
          <a:bodyPr/>
          <a:lstStyle/>
          <a:p>
            <a:r>
              <a:rPr lang="nb-NO" dirty="0"/>
              <a:t>LÆRING 3: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429F6D-25DD-113B-14DC-2A00E4C906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09141" y="98906"/>
            <a:ext cx="8836073" cy="720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Svar del 3: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Denne delen viser hvordan lokale kartlegginger faktisk tas i bruk i praksis, både i Malmö og Bengtsfors,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og hvilken verdi de har i videre arbeid med sirkulær omstilling.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 Malmö beskrives kartleggingen som det beste verktøyet de har hatt så langt for å følge opp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ressurseffektivitet i miljøprogrammet. Den gir etterlengtede data og indikatorer, og gjør det mulig å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jobbe mer systematisk med oppfølging over tid. Kommunen opplever derfor stor nytte og ser dette som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viktig grunnlag for videre arbeid.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 Bengtsfors settes kartleggingen inn i en litt annen kontekst, der kommunen allerede har jobbet aktivt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med sirkulær økonomi gjennom satsingen </a:t>
            </a:r>
            <a:r>
              <a:rPr kumimoji="0" lang="nb-NO" altLang="nb-NO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Riksenbios</a:t>
            </a: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Her har de hatt et sterkt fokus på samarbeid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med næringslivet, særlig innen skogbaserte verdikjeder, og gjennomført egne, mer kvalitative kartlegginger.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 nye med denne metoden er at den gir et kvantitativt “makroperspektiv” som kompletterer det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lokale, mer praktiske arbeidet. Den synliggjør tydelig hvor store ressursstrømmene faktisk er,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særlig innen skog, og gir dermed: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økt tyngde i dialog med næringsliv, politikere og internt i kommunen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bedre grunnlag for prioritering av tiltak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tydeligere retning for innsats og aktiviteter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Kombinasjonen av lokal, erfaringsbasert innsikt og systematisk datakartlegging beskrives som en stor styrke.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Videre peker Bengtsfors på at metoden også har potensial utover egen kommune.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Når de nå ønsker å samarbeide tettere med nabokommuner, blir det tydelig behov for felles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kartlegginger på tvers av regioner, siden ulike kommuner har ulike ressursprofiler (f.eks. skog, metall, plast).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viktig poeng er også koblingen mellom økonomi og materialstrømmer: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Kartleggingen viser at det som ofte forstås som økonomiske verdier, i realiteten også representerer store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fysiske materialmengder, noe som styrker forståelsen av ressursbrukens omfang.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Kort sagt: Kartleggingene fungerer som en bro mellom strategi og praksis – de gir både legitimitet, retning og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konkret handlingsgrunnlag for sirkulær omstilling, lokalt og regionalt.</a:t>
            </a: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46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E892BF3-A5B2-12AC-89C2-AB7E7858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8901"/>
            <a:ext cx="10515600" cy="1325563"/>
          </a:xfrm>
        </p:spPr>
        <p:txBody>
          <a:bodyPr/>
          <a:lstStyle/>
          <a:p>
            <a:r>
              <a:rPr lang="nb-NO" dirty="0"/>
              <a:t>Læring 4: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2CE47F-88BE-8AD4-C40C-930B3D1689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49285" y="258901"/>
            <a:ext cx="27440354" cy="6340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 er et tydelig og strukturert sammendrag av denne delen:</a:t>
            </a: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Denne delen avklarer hva metoden inkluderer – og hva den bevisst ikke inkluderer, samt hvordan data faktisk samles inn.</a:t>
            </a: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det første presiseres det at analysen i hovedsak har et produksjonsperspektiv. Metoden fokuserer på:</a:t>
            </a: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virksomheter med store innkjøp av materialer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fysiske innsatsfaktorer som stål, tre, plast og fossile råvarer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lokale data knyttet til hvor produksjonen faktisk skjer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Dette er et bevisst valg, fordi en ren top-</a:t>
            </a:r>
            <a:r>
              <a:rPr kumimoji="0" lang="nb-NO" altLang="nb-NO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-tilnærming (fra nasjonalt nivå) ikke fanger opp lokale variasjoner.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Ved å gå mer </a:t>
            </a:r>
            <a:r>
              <a:rPr kumimoji="0" lang="nb-NO" altLang="nb-NO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bottom</a:t>
            </a: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-up får man mer presise og relevante data for den enkelte region eller kommune.</a:t>
            </a: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nb-NO" altLang="nb-NO" sz="1400" dirty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Når det gjelder offentlig sektor, er den i liten grad inkludert i analysen. Årsaken er at:</a:t>
            </a: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offentlig sektor i større grad bruker energi og menneskelige ressurser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og i mindre grad store mengder produksjonsmaterialer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 påpekes likevel at det teoretisk er mulig å inkludere deler av offentlig sektor, for eksempel gjennom analyse av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innkjøp i store institusjoner som sykehus, men dette er ikke gjort i den aktuelle metoden.</a:t>
            </a: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Videre forklares hvordan data samles inn:</a:t>
            </a: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 tar utgangspunkt i bedrifters økonomiske data, særlig “kostnad for solgte varer” (COGS)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Disse tallene omregnes fra kroner til fysiske materialmengder (vekt)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Deretter analyseres hvilke typer materialer (f.eks. stål) som inngår, og hvor mye dette tilsvarer i volum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nb-NO" altLang="nb-NO" sz="1400" dirty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Metoden bruker ikke GIS-data i denne sammenhengen. I stedet knyttes data til geografi ved å se på:</a:t>
            </a: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hvor bedriften faktisk har sin produksjon og ansatte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altså hvilken kommune eller region aktiviteten foregår 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Kort sagt:</a:t>
            </a: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Metoden er en praktisk, produksjonsbasert tilnærming til lokal ressurskartlegging, med fokus på fysiske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materialstrømmer i næringslivet. Den prioriterer lokal presisjon fremfor full systemdekning, og gir dermed et konkret,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 avgrenset bilde av ressursbruken.</a:t>
            </a: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347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A65ED01-4C7E-B302-3CB7-0DE89DAA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Læring 5: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B5BD5C-EF25-C34B-DB63-383BE7E59B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58886" y="58846"/>
            <a:ext cx="8893629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Læring 5</a:t>
            </a:r>
            <a:endParaRPr kumimoji="0" lang="nb-NO" altLang="nb-N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Denne delen handler om hvordan man kan jobbe systematisk med datainnsamling over tid, og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hvilke praktiske utfordringer som følger med.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 bekreftes at metoden og datagrunnlaget er relativt godt dokumentert i rapporten,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med en steg-for-steg-beskrivelse av hvordan man kan gjennomføre en tilsvarende kartlegging selv.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Dette gjør det mulig å bygge opp sammenlignbar statistikk over tid, som er viktig for langsiktig oppfølging.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Samtidig understrekes det at datainnsamling er krevende i praksis: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mye av informasjonen må hentes fra årsrapporter og ulike kilder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 kan være svært tidkrevende å gjøre manuelt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kvaliteten på resultatet avhenger sterkt av tilgang til gode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Derfor gis et tydelig råd: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enten ha intern kompetanse og struktur for datainnsamling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eller kjøpe inn data fra spesialiserte aktører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Poenget er at god datakvalitet er avgjørende, og at man ofte “gjør seg selv en tjeneste” ved å bruke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profesjonelle datakilder fremfor å samle alt selv uten tilstrekkelig kapasitet.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nb-NO" altLang="nb-NO" sz="1600" dirty="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600" b="1" i="1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Avslutningsvis kommer en refleksjon fra Malmö som kobler kartleggingen til styringssystemer: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kartleggingen brukes ikke direkte i en avfallsplan, men i miljøprogrammet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 bidrar til å følge opp indikatorer for ressurseffektivitet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Kort sagt: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Metoden er dokumentert og mulig å bruke over tid, men tilgang til god data og riktig organisering av datainnsamlingen er helt avgjørende for å lykkes i praksis.</a:t>
            </a:r>
            <a:endParaRPr kumimoji="0" lang="nb-NO" altLang="nb-N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103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CC88715-59E6-24CD-5BFE-6F1F78B5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Læring 6: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94752A-9573-0147-021C-8EF946FA2E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58886" y="258902"/>
            <a:ext cx="9098966" cy="6340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Læring 6: </a:t>
            </a: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Denne delen utdyper hvordan indikatorer og kategorier er valgt, og hva slags rolle metoden spiller i styring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og oppfølging.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 Malmö forklares det at indikatoren for sirkulær økonomi i miljøprogrammet bevisst er formulert åpent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(“virksomheters omstilling til en sirkulær økonomi”). Dette skyldes at man på tidspunktet for utforming ikke visste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hvilken metode som ville være best egnet. Kartleggingsmetoden som nå er brukt, er den første som faktisk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har gitt konkret og anvendbar data til denne indikatoren.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Når det gjelder ressurskategoriene, er de valgt basert på: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hva som faktisk produseres og kjøpes inn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inspirasjon fra eksisterende studier, blant annet Gap Report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behovet for en enkel, tydelig og praktisk inndeling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fem hovedkategoriene (biomasse, metaller, mineraler, fossilt og resirkulert) vurderes som: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grove, men tydelige og funksjonelle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godt egnet for sammenligning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viktig prinsipp som trekkes frem er at man bør: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holde kategoriene stabile over tid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å sikre sammenlignbarhet mellom regioner og over tid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Avslutningsvis berøres også håndtering av spørsmål og videre dialog: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svært detaljerte faglige spørsmål tas best i egne oppfølgingssamtaler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mens mer overordnede refleksjoner løftes i plenum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Kort sagt: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Metoden gir for første gang et operasjonelt grunnlag for å måle en ellers åpent formulert indikator,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og bygger på en bevisst balanse mellom enkelhet, tydelighet og sammenlignbarhet i hvordan ressurser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kategoriseres.</a:t>
            </a:r>
            <a:endParaRPr kumimoji="0" lang="nb-NO" altLang="nb-NO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163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068489B-BCE3-E26F-DB29-41DB0AD55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Læring 7: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E1868A-34A7-EF43-E7EF-4049758FCF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0439" y="-33487"/>
            <a:ext cx="8779867" cy="6924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Denne delen gir en reflektert vurdering av metodens styrker og svakheter, samt hvordan den kan videreutvikles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og brukes i praksis.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Christer understreker at det mest slående resultatet er hvor lav andel materialer som faktisk gjenbrukes eller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resirkuleres. Dette er det som vekker størst bekymring – ikke selve metoden, som han mener de nå har god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kontroll på etter flere års arbeid.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Samtidig er det flere viktige metodiske begrensninger: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På regionalt nivå er det vanskelig å vite hva som krysser grenser (import/eksport mellom regioner)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 kan forekomme noe dobbeltelling, men dette vurderes som begrenset i praksis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Bruk av SNI-koder gir usikkerhet, siden bedrifter selv definerer sin kategori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Skalering (opp eller ned) innebærer alltid tap av presisjon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Likevel understrekes det at metoden ikke skal forstås som en eksakt sannhet, men som en: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 indikasjon på hvor ressursbruken er størst og hvor tiltak bør prioriteres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 viktig funn er også at et lite antall store selskaper ofte dekker: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70–80 % av ressursbruken i en sektor, noe som gjør metoden praktisk gjennomførbar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Videre diskuteres utviklingsmuligheter: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Metoden kan brukes ikke bare på regioner, men også på: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enkeltkommuner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sektorer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enkeltorganisasjoner eller virksomheter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 er særlig behov for bedre data på: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hvor mye resirkulert materiale som faktisk brukes igjen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hvor materialer går etter at de er samlet inn til gjenvinning</a:t>
            </a:r>
            <a:b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Når det gjelder hva metoden fanger: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 inkluderer både resirkulering og noe gjenbruk, men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interne sirkulære strømmer i virksomheter (lukket loop) er vanskeligere å måle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Til slutt diskuteres internasjonal kontekst: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Lignende analyser finnes i enkelte regioner i Europa (f.eks. Bayern, Nederland),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 det er få tilsvarende initiativer i Norden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 etterlyses derfor et nordisk samarbeid eller faglig fellesskap for å utvikle metodene videre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Avslutningen peker på at dette er starten på en større bevegelse: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 å få bedre oversikt over ressursbruk på lokalt og regionalt nivå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 og bruke denne innsikten til å drive sirkulær omstilling mer målrettet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Kort sagt: Metoden er ikke perfekt, men robust nok til å gi retning, og verdien ligger i å gjøre ressursbruk synlig,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b-NO" altLang="nb-NO" sz="1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sammenlignbar og handlingsrelevant.</a:t>
            </a:r>
            <a:endParaRPr kumimoji="0" lang="nb-NO" altLang="nb-NO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59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34496AF-4F80-27CD-CDAA-89D6F988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141711"/>
            <a:ext cx="3234466" cy="347436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LENKE TIL RAPPORTEN: </a:t>
            </a:r>
            <a:b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https://resource-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sip.se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/en-metod-for-att-kartlagga-resursanvandning-vagledning-for-regioner-och-kommuner/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193FD5-6A49-7562-EA76-F15D42E15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lassholder for innhold 4" descr="Et bilde som inneholder kart, skjermbilde, tekst&#10;&#10;KI-generert innhold kan være feil.">
            <a:extLst>
              <a:ext uri="{FF2B5EF4-FFF2-40B4-BE49-F238E27FC236}">
                <a16:creationId xmlns:a16="http://schemas.microsoft.com/office/drawing/2014/main" id="{EF2529B4-D073-E635-8A97-BEF7DD57B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7335" y="815009"/>
            <a:ext cx="5627732" cy="524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53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7761912-B1A4-D372-F7E9-4F3982263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59D3F77-77FC-B2F0-D447-A57037992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4" name="Bilde 3" descr="Et bilde som inneholder tekst, person, Menneskeansikt, skjermbilde&#10;&#10;KI-generert innhold kan være feil.">
            <a:extLst>
              <a:ext uri="{FF2B5EF4-FFF2-40B4-BE49-F238E27FC236}">
                <a16:creationId xmlns:a16="http://schemas.microsoft.com/office/drawing/2014/main" id="{2D042593-F0F9-C830-5442-2BDDB5F1B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10372130" cy="675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20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2408</Words>
  <Application>Microsoft Macintosh PowerPoint</Application>
  <PresentationFormat>Widescreen</PresentationFormat>
  <Paragraphs>210</Paragraphs>
  <Slides>21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Google Sans</vt:lpstr>
      <vt:lpstr>Office-tema</vt:lpstr>
      <vt:lpstr>Webbinarium Regional resurskartlÃ¤ggning RE:Source</vt:lpstr>
      <vt:lpstr>Sammenfatning – Webinar om regional ressurskartlegging (RE:Source, 31. mars) 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Læring 1: </vt:lpstr>
      <vt:lpstr>LÆRING 2 / Malmø </vt:lpstr>
      <vt:lpstr>LÆRING 3: </vt:lpstr>
      <vt:lpstr>Læring 4: </vt:lpstr>
      <vt:lpstr>Læring 5: </vt:lpstr>
      <vt:lpstr>Læring 6: </vt:lpstr>
      <vt:lpstr>Læring 7:</vt:lpstr>
      <vt:lpstr>LENKE TIL RAPPORTEN:   https://resource-sip.se/en-metod-for-att-kartlagga-resursanvandning-vagledning-for-regioner-och-kommuner/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Cathrine Barth</dc:creator>
  <cp:lastModifiedBy>Cathrine Barth</cp:lastModifiedBy>
  <cp:revision>5</cp:revision>
  <dcterms:created xsi:type="dcterms:W3CDTF">2026-03-31T07:13:16Z</dcterms:created>
  <dcterms:modified xsi:type="dcterms:W3CDTF">2026-04-13T10:29:48Z</dcterms:modified>
</cp:coreProperties>
</file>